
<file path=[Content_Types].xml><?xml version="1.0" encoding="utf-8"?>
<Types xmlns="http://schemas.openxmlformats.org/package/2006/content-types">
  <Default Extension="xml" ContentType="application/xml"/>
  <Default Extension="rels" ContentType="application/vnd.openxmlformats-package.relationships+x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9" Type="http://schemas.openxmlformats.org/officeDocument/2006/relationships/viewProps" Target="viewProps.xml" /><Relationship Id="rId8" Type="http://schemas.openxmlformats.org/officeDocument/2006/relationships/presProps" Target="presProps.xml" /><Relationship Id="rId1" Type="http://schemas.openxmlformats.org/officeDocument/2006/relationships/slideMaster" Target="slideMasters/slideMaster1.xml" /><Relationship Id="rId11" Type="http://schemas.openxmlformats.org/officeDocument/2006/relationships/tableStyles" Target="tableStyles.xml" /><Relationship Id="rId10" Type="http://schemas.openxmlformats.org/officeDocument/2006/relationships/theme" Target="theme/theme1.xml" /></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妨害通信の数理とシミュレーション環境の構築</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妨害通信</a:t>
            </a:r>
            <a:br/>
            <a:br/>
            <a:r>
              <a:rPr/>
              <a:t>学籍番号(Student ID): 1280391</a:t>
            </a:r>
            <a:br/>
            <a:r>
              <a:rPr/>
              <a:t>氏名(Name): 細川夏風(Hosokawa Natsuka)</a:t>
            </a:r>
          </a:p>
        </p:txBody>
      </p:sp>
      <p:sp>
        <p:nvSpPr>
          <p:cNvPr id="4" name="Date Placeholder 3"/>
          <p:cNvSpPr>
            <a:spLocks noGrp="1"/>
          </p:cNvSpPr>
          <p:nvPr>
            <p:ph idx="10" sz="half" type="dt"/>
          </p:nvPr>
        </p:nvSpPr>
        <p:spPr/>
        <p:txBody>
          <a:bodyPr/>
          <a:lstStyle/>
          <a:p>
            <a:pPr lvl="0" indent="0" marL="0">
              <a:buNone/>
            </a:pPr>
            <a:r>
              <a:rPr/>
              <a:t>2026-06-17</a:t>
            </a: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0">
              <a:buNone/>
            </a:pPr>
            <a:r>
              <a:rPr/>
              <a:t>目次</a:t>
            </a:r>
          </a:p>
          <a:p>
            <a:pPr lvl="0" indent="0" marL="0">
              <a:buNone/>
            </a:pPr>
            <a:r>
              <a:rPr/>
              <a:t>進捗</a:t>
            </a:r>
          </a:p>
          <a:p>
            <a:pPr lvl="0" indent="-342900" marL="342900">
              <a:buAutoNum type="arabicPeriod"/>
            </a:pPr>
            <a:r>
              <a:rPr>
                <a:latin typeface="Courier"/>
              </a:rPr>
              <a:t>SAGIN</a:t>
            </a:r>
            <a:r>
              <a:rPr/>
              <a:t>の通信妨害</a:t>
            </a:r>
          </a:p>
          <a:p>
            <a:pPr lvl="0" indent="-342900" marL="342900">
              <a:buAutoNum type="arabicPeriod"/>
            </a:pPr>
            <a:r>
              <a:rPr>
                <a:latin typeface="Courier"/>
              </a:rPr>
              <a:t>SAGIN</a:t>
            </a:r>
            <a:r>
              <a:rPr/>
              <a:t>の概要</a:t>
            </a:r>
          </a:p>
          <a:p>
            <a:pPr lvl="0" indent="-342900" marL="342900">
              <a:buAutoNum type="arabicPeriod"/>
            </a:pPr>
            <a:r>
              <a:rPr/>
              <a:t>通信妨害と概要</a:t>
            </a:r>
          </a:p>
          <a:p>
            <a:pPr lvl="0" indent="-342900" marL="342900">
              <a:buAutoNum type="arabicPeriod"/>
            </a:pPr>
            <a:r>
              <a:rPr/>
              <a:t>通信妨害の数理(今回)</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妨害通信の数理</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spcBef>
                    <a:spcPts val="3000"/>
                  </a:spcBef>
                  <a:buNone/>
                </a:pPr>
                <a:r>
                  <a:rPr b="1"/>
                  <a:t>前提知識</a:t>
                </a:r>
              </a:p>
              <a:p>
                <a:pPr lvl="0" indent="0" marL="0">
                  <a:buNone/>
                </a:pPr>
                <a:r>
                  <a:rPr/>
                  <a:t>妨害通信を学ぶに当たって</a:t>
                </a:r>
              </a:p>
              <a:p>
                <a:pPr lvl="0"/>
                <a:r>
                  <a:rPr b="1"/>
                  <a:t>最尤函数</a:t>
                </a:r>
                <a:r>
                  <a:rPr/>
                  <a:t> </a:t>
                </a:r>
                <a14:m>
                  <m:oMath xmlns:m="http://schemas.openxmlformats.org/officeDocument/2006/math">
                    <m:r>
                      <m:t>f</m:t>
                    </m:r>
                    <m:d>
                      <m:dPr>
                        <m:begChr m:val="("/>
                        <m:endChr m:val=")"/>
                        <m:sepChr m:val=""/>
                        <m:grow/>
                      </m:dPr>
                      <m:e>
                        <m:r>
                          <m:t>y</m:t>
                        </m:r>
                        <m:r>
                          <m:rPr>
                            <m:sty m:val="p"/>
                          </m:rPr>
                          <m:t>|</m:t>
                        </m:r>
                        <m:r>
                          <m:t>s</m:t>
                        </m:r>
                      </m:e>
                    </m:d>
                  </m:oMath>
                </a14:m>
                <a:br/>
                <a:r>
                  <a:rPr/>
                  <a:t>受信信号</a:t>
                </a:r>
                <a14:m>
                  <m:oMath xmlns:m="http://schemas.openxmlformats.org/officeDocument/2006/math">
                    <m:r>
                      <m:t>y</m:t>
                    </m:r>
                  </m:oMath>
                </a14:m>
                <a:r>
                  <a:rPr/>
                  <a:t>が与えられたとき，送信信号</a:t>
                </a:r>
                <a14:m>
                  <m:oMath xmlns:m="http://schemas.openxmlformats.org/officeDocument/2006/math">
                    <m:r>
                      <m:t>s</m:t>
                    </m:r>
                  </m:oMath>
                </a14:m>
                <a:r>
                  <a:rPr/>
                  <a:t>がどのような値がもっともらしいかを表した函数</a:t>
                </a:r>
              </a:p>
              <a:p>
                <a:pPr lvl="0"/>
                <a:r>
                  <a:rPr b="1"/>
                  <a:t>特性函数</a:t>
                </a:r>
                <a:br/>
                <a:r>
                  <a:rPr/>
                  <a:t>線形和の変数を</a:t>
                </a:r>
                <a14:m>
                  <m:oMath xmlns:m="http://schemas.openxmlformats.org/officeDocument/2006/math">
                    <m:r>
                      <m:t>1</m:t>
                    </m:r>
                  </m:oMath>
                </a14:m>
                <a:r>
                  <a:rPr/>
                  <a:t>つの指数の線形和の形に変形する</a:t>
                </a:r>
              </a:p>
              <a:p>
                <a:pPr lvl="0"/>
                <a:r>
                  <a:rPr b="1">
                    <a:latin typeface="Courier"/>
                  </a:rPr>
                  <a:t>Q</a:t>
                </a:r>
                <a:r>
                  <a:rPr b="1"/>
                  <a:t>函数</a:t>
                </a:r>
                <a:r>
                  <a:rPr/>
                  <a:t> </a:t>
                </a:r>
                <a14:m>
                  <m:oMath xmlns:m="http://schemas.openxmlformats.org/officeDocument/2006/math">
                    <m:r>
                      <m:t>Q</m:t>
                    </m:r>
                    <m:d>
                      <m:dPr>
                        <m:begChr m:val="("/>
                        <m:endChr m:val=")"/>
                        <m:sepChr m:val=""/>
                        <m:grow/>
                      </m:dPr>
                      <m:e>
                        <m:r>
                          <m:t>x</m:t>
                        </m:r>
                      </m:e>
                    </m:d>
                  </m:oMath>
                </a14:m>
                <a:br/>
                <a:r>
                  <a:rPr/>
                  <a:t>入力値</a:t>
                </a:r>
                <a14:m>
                  <m:oMath xmlns:m="http://schemas.openxmlformats.org/officeDocument/2006/math">
                    <m:r>
                      <m:t>x</m:t>
                    </m:r>
                  </m:oMath>
                </a14:m>
                <a:r>
                  <a:rPr/>
                  <a:t>から</a:t>
                </a:r>
                <a14:m>
                  <m:oMath xmlns:m="http://schemas.openxmlformats.org/officeDocument/2006/math">
                    <m:r>
                      <m:rPr>
                        <m:sty m:val="p"/>
                      </m:rPr>
                      <m:t>∞</m:t>
                    </m:r>
                  </m:oMath>
                </a14:m>
                <a:r>
                  <a:rPr/>
                  <a:t>までの標準正規分布の積分</a:t>
                </a:r>
              </a:p>
              <a:p>
                <a:pPr lvl="0"/>
                <a:r>
                  <a:rPr b="1">
                    <a:latin typeface="Courier"/>
                  </a:rPr>
                  <a:t>BPSK</a:t>
                </a:r>
                <a:br/>
                <a:r>
                  <a:rPr/>
                  <a:t>現在用いられている通信方式，</a:t>
                </a:r>
                <a14:m>
                  <m:oMath xmlns:m="http://schemas.openxmlformats.org/officeDocument/2006/math">
                    <m:r>
                      <m:t>1</m:t>
                    </m:r>
                  </m:oMath>
                </a14:m>
                <a:r>
                  <a:rPr/>
                  <a:t>が来たらある電圧</a:t>
                </a:r>
                <a14:m>
                  <m:oMath xmlns:m="http://schemas.openxmlformats.org/officeDocument/2006/math">
                    <m:r>
                      <m:t>A</m:t>
                    </m:r>
                  </m:oMath>
                </a14:m>
                <a:r>
                  <a:rPr/>
                  <a:t>と認識，</a:t>
                </a:r>
                <a14:m>
                  <m:oMath xmlns:m="http://schemas.openxmlformats.org/officeDocument/2006/math">
                    <m:r>
                      <m:t>0</m:t>
                    </m:r>
                  </m:oMath>
                </a14:m>
                <a:r>
                  <a:rPr/>
                  <a:t>が来たらある電圧</a:t>
                </a:r>
                <a14:m>
                  <m:oMath xmlns:m="http://schemas.openxmlformats.org/officeDocument/2006/math">
                    <m:r>
                      <m:rPr>
                        <m:sty m:val="p"/>
                      </m:rPr>
                      <m:t>−</m:t>
                    </m:r>
                    <m:r>
                      <m:t>A</m:t>
                    </m:r>
                  </m:oMath>
                </a14:m>
                <a:r>
                  <a:rPr/>
                  <a:t>と認識する</a:t>
                </a:r>
              </a:p>
              <a:p>
                <a:pPr lvl="0" indent="0" marL="0">
                  <a:spcBef>
                    <a:spcPts val="3000"/>
                  </a:spcBef>
                  <a:buNone/>
                </a:pPr>
                <a:r>
                  <a:rPr b="1"/>
                  <a:t>信号の認識</a:t>
                </a:r>
              </a:p>
              <a:p>
                <a:pPr lvl="0" indent="0" marL="0">
                  <a:buNone/>
                </a:pPr>
                <a:r>
                  <a:rPr/>
                  <a:t>通信からもっともらしさを すべての送信シンボル</a:t>
                </a:r>
                <a14:m>
                  <m:oMath xmlns:m="http://schemas.openxmlformats.org/officeDocument/2006/math">
                    <m:r>
                      <m:rPr>
                        <m:sty m:val="p"/>
                      </m:rPr>
                      <m:t>∀</m:t>
                    </m:r>
                    <m:r>
                      <m:t>s</m:t>
                    </m:r>
                    <m:r>
                      <m:rPr>
                        <m:sty m:val="p"/>
                      </m:rPr>
                      <m:t>∈</m:t>
                    </m:r>
                    <m:r>
                      <m:t>S</m:t>
                    </m:r>
                  </m:oMath>
                </a14:m>
                <a:r>
                  <a:rPr/>
                  <a:t>の事前確率が等しい場合，受信信号</a:t>
                </a:r>
                <a14:m>
                  <m:oMath xmlns:m="http://schemas.openxmlformats.org/officeDocument/2006/math">
                    <m:r>
                      <m:t>y</m:t>
                    </m:r>
                  </m:oMath>
                </a14:m>
                <a:r>
                  <a:rPr/>
                  <a:t>が与えられたとき，最尤函数を用いて得られた</a:t>
                </a:r>
                <a14:m>
                  <m:oMath xmlns:m="http://schemas.openxmlformats.org/officeDocument/2006/math">
                    <m:r>
                      <m:t>y</m:t>
                    </m:r>
                  </m:oMath>
                </a14:m>
                <a:r>
                  <a:rPr/>
                  <a:t>がを推定．</a:t>
                </a:r>
              </a:p>
              <a:p>
                <a:pPr lvl="0" indent="0" marL="0">
                  <a:buNone/>
                </a:pPr>
                <a14:m>
                  <m:oMathPara xmlns:m="http://schemas.openxmlformats.org/officeDocument/2006/math">
                    <m:oMathParaPr>
                      <m:jc m:val="center"/>
                    </m:oMathParaPr>
                    <m:oMath>
                      <m:m>
                        <m:mPr>
                          <m:baseJc m:val="center"/>
                          <m:plcHide m:val="on"/>
                          <m:mcs>
                            <m:mc>
                              <m:mcPr>
                                <m:mcJc m:val="right"/>
                                <m:count m:val="1"/>
                              </m:mcPr>
                            </m:mc>
                          </m:mcs>
                        </m:mPr>
                        <m:mr>
                          <m:e>
                            <m:acc>
                              <m:accPr>
                                <m:chr m:val="̂"/>
                              </m:accPr>
                              <m:e>
                                <m:r>
                                  <m:t>s</m:t>
                                </m:r>
                              </m:e>
                            </m:acc>
                            <m:r>
                              <m:rPr>
                                <m:sty m:val="p"/>
                              </m:rPr>
                              <m:t>=</m:t>
                            </m:r>
                            <m:r>
                              <m:rPr>
                                <m:sty m:val="p"/>
                              </m:rPr>
                              <m:t>arg</m:t>
                            </m:r>
                            <m:limLow>
                              <m:e>
                                <m:r>
                                  <m:rPr>
                                    <m:sty m:val="p"/>
                                  </m:rPr>
                                  <m:t>min</m:t>
                                </m:r>
                              </m:e>
                              <m:lim>
                                <m:r>
                                  <m:t>s</m:t>
                                </m:r>
                                <m:r>
                                  <m:rPr>
                                    <m:sty m:val="p"/>
                                  </m:rPr>
                                  <m:t>∈</m:t>
                                </m:r>
                                <m:r>
                                  <m:t>S</m:t>
                                </m:r>
                              </m:lim>
                            </m:limLow>
                            <m:sSup>
                              <m:e>
                                <m:d>
                                  <m:dPr>
                                    <m:begChr m:val="|"/>
                                    <m:endChr m:val="|"/>
                                    <m:sepChr m:val=""/>
                                    <m:grow/>
                                  </m:dPr>
                                  <m:e>
                                    <m:r>
                                      <m:t>y</m:t>
                                    </m:r>
                                    <m:r>
                                      <m:rPr>
                                        <m:sty m:val="p"/>
                                      </m:rPr>
                                      <m:t>−</m:t>
                                    </m:r>
                                    <m:r>
                                      <m:t>s</m:t>
                                    </m:r>
                                  </m:e>
                                </m:d>
                              </m:e>
                              <m:sup>
                                <m:r>
                                  <m:t>2</m:t>
                                </m:r>
                              </m:sup>
                            </m:sSup>
                          </m:e>
                        </m:mr>
                      </m:m>
                    </m:oMath>
                  </m:oMathPara>
                </a14:m>
              </a:p>
              <a:p>
                <a:pPr lvl="0" indent="0" marL="0">
                  <a:buNone/>
                </a:pPr>
                <a:r>
                  <a:rPr/>
                  <a:t>最終的に</a:t>
                </a:r>
                <a14:m>
                  <m:oMath xmlns:m="http://schemas.openxmlformats.org/officeDocument/2006/math">
                    <m:r>
                      <m:t>2</m:t>
                    </m:r>
                  </m:oMath>
                </a14:m>
                <a:r>
                  <a:rPr/>
                  <a:t>点間の距離の最小化に帰着する．難しく書いているが，得られた値が</a:t>
                </a:r>
                <a14:m>
                  <m:oMath xmlns:m="http://schemas.openxmlformats.org/officeDocument/2006/math">
                    <m:r>
                      <m:t>1</m:t>
                    </m:r>
                  </m:oMath>
                </a14:m>
                <a:r>
                  <a:rPr/>
                  <a:t>と</a:t>
                </a:r>
                <a14:m>
                  <m:oMath xmlns:m="http://schemas.openxmlformats.org/officeDocument/2006/math">
                    <m:r>
                      <m:t>0</m:t>
                    </m:r>
                  </m:oMath>
                </a14:m>
                <a:r>
                  <a:rPr/>
                  <a:t>のどちらに近いかという単純な式．</a:t>
                </a:r>
              </a:p>
              <a:p>
                <a:pPr lvl="0" indent="0" marL="0">
                  <a:spcBef>
                    <a:spcPts val="3000"/>
                  </a:spcBef>
                  <a:buNone/>
                </a:pPr>
                <a:r>
                  <a:rPr b="1"/>
                  <a:t>ノイズの集約</a:t>
                </a:r>
              </a:p>
              <a:p>
                <a:pPr lvl="0" indent="0" marL="0">
                  <a:buNone/>
                </a:pPr>
                <a:r>
                  <a:rPr/>
                  <a:t>ノイズ同士の関係 通常の通信の際に発生するノイズ(</a:t>
                </a:r>
                <a:r>
                  <a:rPr>
                    <a:latin typeface="Courier"/>
                  </a:rPr>
                  <a:t>AWGA</a:t>
                </a:r>
                <a:r>
                  <a:rPr/>
                  <a:t>)と妨害者が発生させるノイズが存在する．これらと送信信号は受信側では線形の関係にあり，受信信号</a:t>
                </a:r>
                <a14:m>
                  <m:oMath xmlns:m="http://schemas.openxmlformats.org/officeDocument/2006/math">
                    <m:r>
                      <m:t>y</m:t>
                    </m:r>
                  </m:oMath>
                </a14:m>
                <a:r>
                  <a:rPr/>
                  <a:t>，送信信号</a:t>
                </a:r>
                <a14:m>
                  <m:oMath xmlns:m="http://schemas.openxmlformats.org/officeDocument/2006/math">
                    <m:r>
                      <m:t>s</m:t>
                    </m:r>
                  </m:oMath>
                </a14:m>
                <a:r>
                  <a:rPr/>
                  <a:t>，自然に発生するノイズ</a:t>
                </a:r>
                <a14:m>
                  <m:oMath xmlns:m="http://schemas.openxmlformats.org/officeDocument/2006/math">
                    <m:r>
                      <m:t>w</m:t>
                    </m:r>
                  </m:oMath>
                </a14:m>
                <a:r>
                  <a:rPr/>
                  <a:t>，妨害者のノイズ</a:t>
                </a:r>
                <a14:m>
                  <m:oMath xmlns:m="http://schemas.openxmlformats.org/officeDocument/2006/math">
                    <m:r>
                      <m:t>z</m:t>
                    </m:r>
                  </m:oMath>
                </a14:m>
                <a:r>
                  <a:rPr/>
                  <a:t>は以下の式で表せる．このとき，ノイズはガウス分布に従うものとする．</a:t>
                </a:r>
              </a:p>
              <a:p>
                <a:pPr lvl="0" indent="0" marL="0">
                  <a:buNone/>
                </a:pPr>
                <a14:m>
                  <m:oMathPara xmlns:m="http://schemas.openxmlformats.org/officeDocument/2006/math">
                    <m:oMathParaPr>
                      <m:jc m:val="center"/>
                    </m:oMathParaPr>
                    <m:oMath>
                      <m:m>
                        <m:mPr>
                          <m:baseJc m:val="center"/>
                          <m:plcHide m:val="on"/>
                          <m:mcs>
                            <m:mc>
                              <m:mcPr>
                                <m:mcJc m:val="right"/>
                                <m:count m:val="1"/>
                              </m:mcPr>
                            </m:mc>
                          </m:mcs>
                        </m:mPr>
                        <m:mr>
                          <m:e>
                            <m:r>
                              <m:t>y</m:t>
                            </m:r>
                            <m:r>
                              <m:rPr>
                                <m:sty m:val="p"/>
                              </m:rPr>
                              <m:t>=</m:t>
                            </m:r>
                            <m:r>
                              <m:t>s</m:t>
                            </m:r>
                            <m:r>
                              <m:rPr>
                                <m:sty m:val="p"/>
                              </m:rPr>
                              <m:t>+</m:t>
                            </m:r>
                            <m:r>
                              <m:t>w</m:t>
                            </m:r>
                            <m:r>
                              <m:rPr>
                                <m:sty m:val="p"/>
                              </m:rPr>
                              <m:t>+</m:t>
                            </m:r>
                            <m:r>
                              <m:t>z</m:t>
                            </m:r>
                          </m:e>
                        </m:mr>
                      </m:m>
                    </m:oMath>
                  </m:oMathPara>
                </a14:m>
              </a:p>
              <a:p>
                <a:pPr lvl="0" indent="0" marL="0">
                  <a:buNone/>
                </a:pPr>
                <a:r>
                  <a:rPr/>
                  <a:t>この式に対して，特性函数</a:t>
                </a:r>
                <a14:m>
                  <m:oMath xmlns:m="http://schemas.openxmlformats.org/officeDocument/2006/math">
                    <m:r>
                      <m:t>φ</m:t>
                    </m:r>
                  </m:oMath>
                </a14:m>
                <a:r>
                  <a:rPr/>
                  <a:t>を用いると</a:t>
                </a:r>
                <a14:m>
                  <m:oMath xmlns:m="http://schemas.openxmlformats.org/officeDocument/2006/math">
                    <m:r>
                      <m:t>2</m:t>
                    </m:r>
                  </m:oMath>
                </a14:m>
                <a:r>
                  <a:rPr/>
                  <a:t>つのノイズ</a:t>
                </a:r>
                <a14:m>
                  <m:oMath xmlns:m="http://schemas.openxmlformats.org/officeDocument/2006/math">
                    <m:r>
                      <m:rPr>
                        <m:sty m:val="p"/>
                        <m:scr m:val="script"/>
                      </m:rPr>
                      <m:t>N</m:t>
                    </m:r>
                    <m:d>
                      <m:dPr>
                        <m:begChr m:val="("/>
                        <m:endChr m:val=")"/>
                        <m:sepChr m:val=""/>
                        <m:grow/>
                      </m:dPr>
                      <m:e>
                        <m:r>
                          <m:t>0</m:t>
                        </m:r>
                        <m:r>
                          <m:rPr>
                            <m:sty m:val="p"/>
                          </m:rPr>
                          <m:t>,</m:t>
                        </m:r>
                        <m:sSup>
                          <m:e>
                            <m:r>
                              <m:t>σ</m:t>
                            </m:r>
                          </m:e>
                          <m:sup>
                            <m:r>
                              <m:t>2</m:t>
                            </m:r>
                          </m:sup>
                        </m:sSup>
                      </m:e>
                    </m:d>
                    <m:r>
                      <m:rPr>
                        <m:sty m:val="p"/>
                      </m:rPr>
                      <m:t>=</m:t>
                    </m:r>
                    <m:r>
                      <m:rPr>
                        <m:sty m:val="p"/>
                        <m:scr m:val="script"/>
                      </m:rPr>
                      <m:t>N</m:t>
                    </m:r>
                    <m:d>
                      <m:dPr>
                        <m:begChr m:val="("/>
                        <m:endChr m:val=")"/>
                        <m:sepChr m:val=""/>
                        <m:grow/>
                      </m:dPr>
                      <m:e>
                        <m:r>
                          <m:t>0</m:t>
                        </m:r>
                        <m:r>
                          <m:rPr>
                            <m:sty m:val="p"/>
                          </m:rPr>
                          <m:t>,</m:t>
                        </m:r>
                        <m:sSubSup>
                          <m:e>
                            <m:r>
                              <m:t>σ</m:t>
                            </m:r>
                          </m:e>
                          <m:sub>
                            <m:r>
                              <m:t>w</m:t>
                            </m:r>
                          </m:sub>
                          <m:sup>
                            <m:r>
                              <m:t>2</m:t>
                            </m:r>
                          </m:sup>
                        </m:sSubSup>
                        <m:r>
                          <m:rPr>
                            <m:sty m:val="p"/>
                          </m:rPr>
                          <m:t>+</m:t>
                        </m:r>
                        <m:sSubSup>
                          <m:e>
                            <m:r>
                              <m:t>σ</m:t>
                            </m:r>
                          </m:e>
                          <m:sub>
                            <m:r>
                              <m:t>z</m:t>
                            </m:r>
                          </m:sub>
                          <m:sup>
                            <m:r>
                              <m:t>2</m:t>
                            </m:r>
                          </m:sup>
                        </m:sSubSup>
                      </m:e>
                    </m:d>
                  </m:oMath>
                </a14:m>
                <a:r>
                  <a:rPr/>
                  <a:t>と表すことができる．</a:t>
                </a:r>
              </a:p>
              <a:p>
                <a:pPr lvl="0" indent="0" marL="0">
                  <a:spcBef>
                    <a:spcPts val="3000"/>
                  </a:spcBef>
                  <a:buNone/>
                </a:pPr>
                <a:r>
                  <a:rPr b="1"/>
                  <a:t>妨害</a:t>
                </a:r>
              </a:p>
              <a:p>
                <a:pPr lvl="0" indent="0" marL="0">
                  <a:buNone/>
                </a:pPr>
                <a:r>
                  <a:rPr/>
                  <a:t>妨害による情報の喪失(1) 前述の</a:t>
                </a:r>
                <a14:m>
                  <m:oMath xmlns:m="http://schemas.openxmlformats.org/officeDocument/2006/math">
                    <m:r>
                      <m:t>Q</m:t>
                    </m:r>
                  </m:oMath>
                </a14:m>
                <a:r>
                  <a:rPr/>
                  <a:t>函数を用いて，妨害電波が極限</a:t>
                </a:r>
                <a14:m>
                  <m:oMath xmlns:m="http://schemas.openxmlformats.org/officeDocument/2006/math">
                    <m:limLow>
                      <m:e>
                        <m:r>
                          <m:rPr>
                            <m:sty m:val="p"/>
                          </m:rPr>
                          <m:t>lim</m:t>
                        </m:r>
                      </m:e>
                      <m:lim>
                        <m:sSubSup>
                          <m:e>
                            <m:r>
                              <m:t>σ</m:t>
                            </m:r>
                          </m:e>
                          <m:sub>
                            <m:r>
                              <m:t>z</m:t>
                            </m:r>
                          </m:sub>
                          <m:sup>
                            <m:r>
                              <m:t>2</m:t>
                            </m:r>
                          </m:sup>
                        </m:sSubSup>
                        <m:r>
                          <m:rPr>
                            <m:sty m:val="p"/>
                          </m:rPr>
                          <m:t>→</m:t>
                        </m:r>
                        <m:r>
                          <m:rPr>
                            <m:sty m:val="p"/>
                          </m:rPr>
                          <m:t>∞</m:t>
                        </m:r>
                      </m:lim>
                    </m:limLow>
                  </m:oMath>
                </a14:m>
                <a:r>
                  <a:rPr/>
                  <a:t>まで近づいた場合を考える．</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limLow>
                              <m:e>
                                <m:r>
                                  <m:rPr>
                                    <m:sty m:val="p"/>
                                  </m:rPr>
                                  <m:t>lim</m:t>
                                </m:r>
                              </m:e>
                              <m:lim>
                                <m:sSubSup>
                                  <m:e>
                                    <m:r>
                                      <m:t>σ</m:t>
                                    </m:r>
                                  </m:e>
                                  <m:sub>
                                    <m:r>
                                      <m:t>x</m:t>
                                    </m:r>
                                  </m:sub>
                                  <m:sup>
                                    <m:r>
                                      <m:t>2</m:t>
                                    </m:r>
                                  </m:sup>
                                </m:sSubSup>
                                <m:r>
                                  <m:rPr>
                                    <m:sty m:val="p"/>
                                  </m:rPr>
                                  <m:t>→</m:t>
                                </m:r>
                                <m:r>
                                  <m:rPr>
                                    <m:sty m:val="p"/>
                                  </m:rPr>
                                  <m:t>∞</m:t>
                                </m:r>
                              </m:lim>
                            </m:limLow>
                            <m:sSub>
                              <m:e>
                                <m:r>
                                  <m:t>P</m:t>
                                </m:r>
                              </m:e>
                              <m:sub>
                                <m:r>
                                  <m:t>e</m:t>
                                </m:r>
                              </m:sub>
                            </m:sSub>
                          </m:e>
                          <m:e>
                            <m:r>
                              <m:rPr>
                                <m:sty m:val="p"/>
                              </m:rPr>
                              <m:t>=</m:t>
                            </m:r>
                            <m:limLow>
                              <m:e>
                                <m:r>
                                  <m:rPr>
                                    <m:sty m:val="p"/>
                                  </m:rPr>
                                  <m:t>lim</m:t>
                                </m:r>
                              </m:e>
                              <m:lim>
                                <m:sSubSup>
                                  <m:e>
                                    <m:r>
                                      <m:t>σ</m:t>
                                    </m:r>
                                  </m:e>
                                  <m:sub>
                                    <m:r>
                                      <m:t>x</m:t>
                                    </m:r>
                                  </m:sub>
                                  <m:sup>
                                    <m:r>
                                      <m:t>2</m:t>
                                    </m:r>
                                  </m:sup>
                                </m:sSubSup>
                                <m:r>
                                  <m:rPr>
                                    <m:sty m:val="p"/>
                                  </m:rPr>
                                  <m:t>→</m:t>
                                </m:r>
                                <m:r>
                                  <m:rPr>
                                    <m:sty m:val="p"/>
                                  </m:rPr>
                                  <m:t>∞</m:t>
                                </m:r>
                              </m:lim>
                            </m:limLow>
                            <m:r>
                              <m:t>Q</m:t>
                            </m:r>
                            <m:d>
                              <m:dPr>
                                <m:begChr m:val="("/>
                                <m:endChr m:val=")"/>
                                <m:sepChr m:val=""/>
                                <m:grow/>
                              </m:dPr>
                              <m:e>
                                <m:f>
                                  <m:fPr>
                                    <m:type m:val="bar"/>
                                  </m:fPr>
                                  <m:num>
                                    <m:r>
                                      <m:t>A</m:t>
                                    </m:r>
                                  </m:num>
                                  <m:den>
                                    <m:rad>
                                      <m:radPr>
                                        <m:degHide m:val="on"/>
                                      </m:radPr>
                                      <m:deg/>
                                      <m:e>
                                        <m:sSubSup>
                                          <m:e>
                                            <m:r>
                                              <m:t>σ</m:t>
                                            </m:r>
                                          </m:e>
                                          <m:sub>
                                            <m:r>
                                              <m:t>w</m:t>
                                            </m:r>
                                          </m:sub>
                                          <m:sup>
                                            <m:r>
                                              <m:t>2</m:t>
                                            </m:r>
                                          </m:sup>
                                        </m:sSubSup>
                                        <m:r>
                                          <m:rPr>
                                            <m:sty m:val="p"/>
                                          </m:rPr>
                                          <m:t>+</m:t>
                                        </m:r>
                                        <m:sSubSup>
                                          <m:e>
                                            <m:r>
                                              <m:t>σ</m:t>
                                            </m:r>
                                          </m:e>
                                          <m:sub>
                                            <m:r>
                                              <m:t>z</m:t>
                                            </m:r>
                                          </m:sub>
                                          <m:sup>
                                            <m:r>
                                              <m:t>2</m:t>
                                            </m:r>
                                          </m:sup>
                                        </m:sSubSup>
                                      </m:e>
                                    </m:rad>
                                  </m:den>
                                </m:f>
                              </m:e>
                            </m:d>
                          </m:e>
                        </m:mr>
                        <m:mr>
                          <m:e/>
                          <m:e>
                            <m:r>
                              <m:rPr>
                                <m:sty m:val="p"/>
                              </m:rPr>
                              <m:t>=</m:t>
                            </m:r>
                            <m:r>
                              <m:t>Q</m:t>
                            </m:r>
                            <m:d>
                              <m:dPr>
                                <m:begChr m:val="("/>
                                <m:endChr m:val=")"/>
                                <m:sepChr m:val=""/>
                                <m:grow/>
                              </m:dPr>
                              <m:e>
                                <m:r>
                                  <m:t>0</m:t>
                                </m:r>
                              </m:e>
                            </m:d>
                            <m:r>
                              <m:rPr>
                                <m:nor/>
                                <m:sty m:val="p"/>
                              </m:rPr>
                              <m:t>に収束し</m:t>
                            </m:r>
                          </m:e>
                        </m:mr>
                        <m:mr>
                          <m:e/>
                          <m:e>
                            <m:nary>
                              <m:naryPr>
                                <m:chr m:val="∫"/>
                                <m:limLoc m:val="subSup"/>
                                <m:subHide m:val="off"/>
                                <m:supHide m:val="off"/>
                              </m:naryPr>
                              <m:sub>
                                <m:r>
                                  <m:rPr>
                                    <m:sty m:val="p"/>
                                  </m:rPr>
                                  <m:t>−</m:t>
                                </m:r>
                                <m:r>
                                  <m:rPr>
                                    <m:sty m:val="p"/>
                                  </m:rPr>
                                  <m:t>∞</m:t>
                                </m:r>
                              </m:sub>
                              <m:sup>
                                <m:r>
                                  <m:rPr>
                                    <m:sty m:val="p"/>
                                  </m:rPr>
                                  <m:t>∞</m:t>
                                </m:r>
                              </m:sup>
                              <m:e>
                                <m:f>
                                  <m:fPr>
                                    <m:type m:val="bar"/>
                                  </m:fPr>
                                  <m:num>
                                    <m:r>
                                      <m:t>1</m:t>
                                    </m:r>
                                  </m:num>
                                  <m:den>
                                    <m:rad>
                                      <m:radPr>
                                        <m:degHide m:val="on"/>
                                      </m:radPr>
                                      <m:deg/>
                                      <m:e>
                                        <m:r>
                                          <m:t>2</m:t>
                                        </m:r>
                                        <m:r>
                                          <m:t>π</m:t>
                                        </m:r>
                                      </m:e>
                                    </m:rad>
                                  </m:den>
                                </m:f>
                              </m:e>
                            </m:nary>
                            <m:r>
                              <m:rPr>
                                <m:sty m:val="p"/>
                              </m:rPr>
                              <m:t>exp</m:t>
                            </m:r>
                            <m:d>
                              <m:dPr>
                                <m:begChr m:val="("/>
                                <m:endChr m:val=")"/>
                                <m:sepChr m:val=""/>
                                <m:grow/>
                              </m:dPr>
                              <m:e>
                                <m:r>
                                  <m:rPr>
                                    <m:sty m:val="p"/>
                                  </m:rPr>
                                  <m:t>−</m:t>
                                </m:r>
                                <m:f>
                                  <m:fPr>
                                    <m:type m:val="bar"/>
                                  </m:fPr>
                                  <m:num>
                                    <m:sSup>
                                      <m:e>
                                        <m:r>
                                          <m:t>u</m:t>
                                        </m:r>
                                      </m:e>
                                      <m:sup>
                                        <m:r>
                                          <m:t>2</m:t>
                                        </m:r>
                                      </m:sup>
                                    </m:sSup>
                                  </m:num>
                                  <m:den>
                                    <m:r>
                                      <m:t>2</m:t>
                                    </m:r>
                                  </m:den>
                                </m:f>
                              </m:e>
                            </m:d>
                            <m:r>
                              <m:t>d</m:t>
                            </m:r>
                            <m:r>
                              <m:t>u</m:t>
                            </m:r>
                            <m:r>
                              <m:rPr>
                                <m:sty m:val="p"/>
                              </m:rPr>
                              <m:t>=</m:t>
                            </m:r>
                            <m:r>
                              <m:t>1</m:t>
                            </m:r>
                            <m:r>
                              <m:rPr>
                                <m:nor/>
                                <m:sty m:val="p"/>
                              </m:rPr>
                              <m:t>より，その半分</m:t>
                            </m:r>
                            <m:f>
                              <m:fPr>
                                <m:type m:val="bar"/>
                              </m:fPr>
                              <m:num>
                                <m:r>
                                  <m:t>1</m:t>
                                </m:r>
                              </m:num>
                              <m:den>
                                <m:r>
                                  <m:t>2</m:t>
                                </m:r>
                              </m:den>
                            </m:f>
                            <m:r>
                              <m:rPr>
                                <m:nor/>
                                <m:sty m:val="p"/>
                              </m:rPr>
                              <m:t>となる</m:t>
                            </m:r>
                          </m:e>
                        </m:mr>
                      </m:m>
                    </m:oMath>
                  </m:oMathPara>
                </a14:m>
              </a:p>
              <a:p>
                <a:pPr lvl="0" indent="0" marL="0">
                  <a:buNone/>
                </a:pPr>
                <a:r>
                  <a:rPr/>
                  <a:t>妨害による情報の喪失(2) シャノン=ハートレーの定理から</a:t>
                </a:r>
              </a:p>
              <a:p>
                <a:pPr lvl="0" indent="0" marL="0">
                  <a:buNone/>
                </a:pPr>
                <a14:m>
                  <m:oMathPara xmlns:m="http://schemas.openxmlformats.org/officeDocument/2006/math">
                    <m:oMathParaPr>
                      <m:jc m:val="center"/>
                    </m:oMathParaPr>
                    <m:oMath>
                      <m:m>
                        <m:mPr>
                          <m:baseJc m:val="center"/>
                          <m:plcHide m:val="on"/>
                          <m:mcs>
                            <m:mc>
                              <m:mcPr>
                                <m:mcJc m:val="right"/>
                                <m:count m:val="1"/>
                              </m:mcPr>
                            </m:mc>
                            <m:mc>
                              <m:mcPr>
                                <m:mcJc m:val="left"/>
                                <m:count m:val="1"/>
                              </m:mcPr>
                            </m:mc>
                          </m:mcs>
                        </m:mPr>
                        <m:mr>
                          <m:e>
                            <m:r>
                              <m:t>C</m:t>
                            </m:r>
                          </m:e>
                          <m:e>
                            <m:r>
                              <m:rPr>
                                <m:sty m:val="p"/>
                              </m:rPr>
                              <m:t>=</m:t>
                            </m:r>
                            <m:limLow>
                              <m:e>
                                <m:r>
                                  <m:rPr>
                                    <m:sty m:val="p"/>
                                  </m:rPr>
                                  <m:t>lim</m:t>
                                </m:r>
                              </m:e>
                              <m:lim>
                                <m:sSubSup>
                                  <m:e>
                                    <m:r>
                                      <m:t>σ</m:t>
                                    </m:r>
                                  </m:e>
                                  <m:sub>
                                    <m:r>
                                      <m:t>z</m:t>
                                    </m:r>
                                  </m:sub>
                                  <m:sup>
                                    <m:r>
                                      <m:t>2</m:t>
                                    </m:r>
                                  </m:sup>
                                </m:sSubSup>
                                <m:r>
                                  <m:rPr>
                                    <m:sty m:val="p"/>
                                  </m:rPr>
                                  <m:t>→</m:t>
                                </m:r>
                                <m:r>
                                  <m:rPr>
                                    <m:sty m:val="p"/>
                                  </m:rPr>
                                  <m:t>∞</m:t>
                                </m:r>
                              </m:lim>
                            </m:limLow>
                            <m:r>
                              <m:rPr>
                                <m:sty m:val="p"/>
                              </m:rPr>
                              <m:t>log</m:t>
                            </m:r>
                            <m:d>
                              <m:dPr>
                                <m:begChr m:val="("/>
                                <m:endChr m:val=")"/>
                                <m:sepChr m:val=""/>
                                <m:grow/>
                              </m:dPr>
                              <m:e>
                                <m:r>
                                  <m:t>1</m:t>
                                </m:r>
                                <m:r>
                                  <m:rPr>
                                    <m:sty m:val="p"/>
                                  </m:rPr>
                                  <m:t>+</m:t>
                                </m:r>
                                <m:f>
                                  <m:fPr>
                                    <m:type m:val="bar"/>
                                  </m:fPr>
                                  <m:num>
                                    <m:sSup>
                                      <m:e>
                                        <m:r>
                                          <m:t>A</m:t>
                                        </m:r>
                                      </m:e>
                                      <m:sup>
                                        <m:r>
                                          <m:t>2</m:t>
                                        </m:r>
                                      </m:sup>
                                    </m:sSup>
                                  </m:num>
                                  <m:den>
                                    <m:sSubSup>
                                      <m:e>
                                        <m:r>
                                          <m:t>σ</m:t>
                                        </m:r>
                                      </m:e>
                                      <m:sub>
                                        <m:r>
                                          <m:t>w</m:t>
                                        </m:r>
                                      </m:sub>
                                      <m:sup>
                                        <m:r>
                                          <m:t>2</m:t>
                                        </m:r>
                                      </m:sup>
                                    </m:sSubSup>
                                    <m:r>
                                      <m:rPr>
                                        <m:sty m:val="p"/>
                                      </m:rPr>
                                      <m:t>+</m:t>
                                    </m:r>
                                    <m:sSubSup>
                                      <m:e>
                                        <m:r>
                                          <m:t>σ</m:t>
                                        </m:r>
                                      </m:e>
                                      <m:sub>
                                        <m:r>
                                          <m:t>z</m:t>
                                        </m:r>
                                      </m:sub>
                                      <m:sup>
                                        <m:r>
                                          <m:t>2</m:t>
                                        </m:r>
                                      </m:sup>
                                    </m:sSubSup>
                                  </m:den>
                                </m:f>
                              </m:e>
                            </m:d>
                          </m:e>
                        </m:mr>
                        <m:mr>
                          <m:e/>
                          <m:e>
                            <m:r>
                              <m:rPr>
                                <m:sty m:val="p"/>
                              </m:rPr>
                              <m:t>=</m:t>
                            </m:r>
                            <m:sSub>
                              <m:e>
                                <m:r>
                                  <m:rPr>
                                    <m:sty m:val="p"/>
                                  </m:rPr>
                                  <m:t>log</m:t>
                                </m:r>
                              </m:e>
                              <m:sub>
                                <m:r>
                                  <m:t>2</m:t>
                                </m:r>
                              </m:sub>
                            </m:sSub>
                            <m:d>
                              <m:dPr>
                                <m:begChr m:val="("/>
                                <m:endChr m:val=")"/>
                                <m:sepChr m:val=""/>
                                <m:grow/>
                              </m:dPr>
                              <m:e>
                                <m:r>
                                  <m:t>1</m:t>
                                </m:r>
                              </m:e>
                            </m:d>
                          </m:e>
                        </m:mr>
                        <m:mr>
                          <m:e/>
                          <m:e>
                            <m:r>
                              <m:rPr>
                                <m:sty m:val="p"/>
                              </m:rPr>
                              <m:t>=</m:t>
                            </m:r>
                            <m:r>
                              <m:t>0</m:t>
                            </m:r>
                          </m:e>
                        </m:mr>
                      </m:m>
                    </m:oMath>
                  </m:oMathPara>
                </a14:m>
              </a:p>
              <a:p>
                <a:pPr lvl="0" indent="0" marL="0">
                  <a:buNone/>
                </a:pPr>
                <a:r>
                  <a:rPr/>
                  <a:t>となり，情報が失われることがわかる．</a:t>
                </a:r>
              </a:p>
              <a:p>
                <a:pPr lvl="0" indent="0" marL="0">
                  <a:buNone/>
                </a:pPr>
                <a:r>
                  <a:rPr/>
                  <a:t>図で見る</a:t>
                </a:r>
              </a:p>
              <a:p>
                <a:pPr lvl="0" indent="0" marL="0">
                  <a:buNone/>
                </a:pPr>
              </a:p>
              <a:p>
                <a:pPr lvl="0" indent="0" marL="0">
                  <a:buNone/>
                </a:pPr>
                <a:r>
                  <a:rPr/>
                  <a:t>それぞれの妨害の影響</a:t>
                </a:r>
              </a:p>
              <a:p>
                <a:pPr lvl="0" indent="0" marL="0">
                  <a:spcBef>
                    <a:spcPts val="3000"/>
                  </a:spcBef>
                  <a:buNone/>
                </a:pPr>
                <a:r>
                  <a:rPr b="1"/>
                  <a:t>まとめ</a:t>
                </a:r>
              </a:p>
              <a:p>
                <a:pPr lvl="0" indent="0" marL="0">
                  <a:buNone/>
                </a:pPr>
                <a:r>
                  <a:rPr/>
                  <a:t>まとめ</a:t>
                </a:r>
              </a:p>
              <a:p>
                <a:pPr lvl="0" indent="0" marL="0">
                  <a:buNone/>
                </a:pPr>
                <a:r>
                  <a:rPr/>
                  <a:t>妨害はノイズの強度 以上の簡易的な証明と図示により，妨害はノイズの強度に大きく依存していることがわかる．妨害電波が強ければ強いほど通信に支障をきたし，弱いと明瞭に通信を行うことが可能である．</a:t>
                </a:r>
              </a:p>
            </p:txBody>
          </p:sp>
        </mc:Choice>
      </mc:AlternateContent>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サーバへの環境構築</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indent="0" marL="0">
                  <a:buNone/>
                </a:pPr>
                <a:r>
                  <a:rPr/>
                  <a:t>環境構築 以前から計画した</a:t>
                </a:r>
                <a:r>
                  <a:rPr>
                    <a:latin typeface="Courier"/>
                  </a:rPr>
                  <a:t>Pyjama</a:t>
                </a:r>
                <a:r>
                  <a:rPr/>
                  <a:t>を</a:t>
                </a:r>
                <a:r>
                  <a:rPr>
                    <a:latin typeface="Courier"/>
                  </a:rPr>
                  <a:t>shikharlab-01</a:t>
                </a:r>
                <a:r>
                  <a:rPr/>
                  <a:t>のサーバへ環境構築を行った．ホームディレクトリの直下に</a:t>
                </a:r>
                <a:r>
                  <a:rPr>
                    <a:latin typeface="Courier"/>
                  </a:rPr>
                  <a:t>jamming_env</a:t>
                </a:r>
                <a:r>
                  <a:rPr/>
                  <a:t>というディレクトリを生成し，その中に</a:t>
                </a:r>
                <a:r>
                  <a:rPr>
                    <a:latin typeface="Courier"/>
                  </a:rPr>
                  <a:t>Dockerfile</a:t>
                </a:r>
                <a:r>
                  <a:rPr/>
                  <a:t>，</a:t>
                </a:r>
                <a:r>
                  <a:rPr>
                    <a:latin typeface="Courier"/>
                  </a:rPr>
                  <a:t>docker-compose.yml</a:t>
                </a:r>
                <a:r>
                  <a:rPr/>
                  <a:t>のファイルをおいている．各々，サーバへの接続は</a:t>
                </a:r>
                <a:r>
                  <a:rPr>
                    <a:latin typeface="Courier"/>
                  </a:rPr>
                  <a:t>ssh</a:t>
                </a:r>
                <a:r>
                  <a:rPr/>
                  <a:t>で行ってもらい，その後のコンテナ内への接続等はターミナル，もしくは</a:t>
                </a:r>
                <a:r>
                  <a:rPr>
                    <a:latin typeface="Courier"/>
                  </a:rPr>
                  <a:t>VScode</a:t>
                </a:r>
                <a:r>
                  <a:rPr/>
                  <a:t>で行うことを想定している．</a:t>
                </a:r>
                <a:r>
                  <a:rPr>
                    <a:latin typeface="Courier"/>
                  </a:rPr>
                  <a:t>Jupyter</a:t>
                </a:r>
                <a:r>
                  <a:rPr/>
                  <a:t>形式のため，</a:t>
                </a:r>
                <a:r>
                  <a:rPr>
                    <a:latin typeface="Courier"/>
                  </a:rPr>
                  <a:t>VScode</a:t>
                </a:r>
                <a:r>
                  <a:rPr/>
                  <a:t>を推奨する．また，</a:t>
                </a:r>
                <a:r>
                  <a:rPr>
                    <a:latin typeface="Courier"/>
                  </a:rPr>
                  <a:t>Jupyter</a:t>
                </a:r>
                <a:r>
                  <a:rPr/>
                  <a:t>への接続としてサーバにおけるローカルに</a:t>
                </a:r>
                <a14:m>
                  <m:oMath xmlns:m="http://schemas.openxmlformats.org/officeDocument/2006/math">
                    <m:r>
                      <m:t>8080</m:t>
                    </m:r>
                  </m:oMath>
                </a14:m>
                <a:r>
                  <a:rPr/>
                  <a:t>ポートを解放している．ただし，リモート環境のため動作が異なる可能性が高い．</a:t>
                </a:r>
              </a:p>
            </p:txBody>
          </p:sp>
        </mc:Choice>
      </mc:AlternateContent>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今後の学習予定</a:t>
            </a:r>
          </a:p>
        </p:txBody>
      </p:sp>
      <p:sp>
        <p:nvSpPr>
          <p:cNvPr id="3" name="Content Placeholder 2"/>
          <p:cNvSpPr>
            <a:spLocks noGrp="1"/>
          </p:cNvSpPr>
          <p:nvPr>
            <p:ph idx="1"/>
          </p:nvPr>
        </p:nvSpPr>
        <p:spPr/>
        <p:txBody>
          <a:bodyPr/>
          <a:lstStyle/>
          <a:p>
            <a:pPr lvl="0" indent="0" marL="0">
              <a:buNone/>
            </a:pPr>
            <a:r>
              <a:rPr/>
              <a:t>今後の学習予定</a:t>
            </a:r>
          </a:p>
          <a:p>
            <a:pPr lvl="0"/>
            <a:r>
              <a:rPr/>
              <a:t>魏先生の輪講で強化学習を勉強</a:t>
            </a:r>
          </a:p>
          <a:p>
            <a:pPr lvl="0"/>
            <a:r>
              <a:rPr/>
              <a:t>強化学習で用いるかつ妨害手法と対策手法の活用予想に用いるためゲーム理論を勉強</a:t>
            </a:r>
          </a:p>
          <a:p>
            <a:pPr lvl="0"/>
            <a:r>
              <a:rPr/>
              <a:t>簡易的な妨害を行う</a:t>
            </a:r>
            <a:r>
              <a:rPr>
                <a:latin typeface="Courier"/>
              </a:rPr>
              <a:t>Python</a:t>
            </a:r>
            <a:r>
              <a:rPr/>
              <a:t>プログラムの作成</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参考文献</a:t>
            </a:r>
          </a:p>
        </p:txBody>
      </p:sp>
      <p:sp>
        <p:nvSpPr>
          <p:cNvPr id="3" name="Content Placeholder 2"/>
          <p:cNvSpPr>
            <a:spLocks noGrp="1"/>
          </p:cNvSpPr>
          <p:nvPr>
            <p:ph idx="1"/>
          </p:nvPr>
        </p:nvSpPr>
        <p:spPr/>
        <p:txBody>
          <a:bodyPr/>
          <a:lstStyle/>
          <a:p>
            <a:pPr lvl="0" indent="0" marL="0">
              <a:buNone/>
            </a:pPr>
            <a:r>
              <a:rPr/>
              <a:t>参考文献</a:t>
            </a:r>
          </a:p>
          <a:p>
            <a:pPr lvl="0" indent="0" marL="0">
              <a:buNone/>
            </a:pPr>
            <a:r>
              <a:rPr/>
              <a:t>9 [book] C. E. Shannon, "A Mathematical Theory of Communication," </a:t>
            </a:r>
            <a:r>
              <a:rPr i="1"/>
              <a:t>Bell System Technical Journal</a:t>
            </a:r>
            <a:r>
              <a:rPr/>
              <a:t>, 1948.</a:t>
            </a:r>
          </a:p>
          <a:p>
            <a:pPr lvl="0" indent="0" marL="0">
              <a:buNone/>
            </a:pPr>
            <a:r>
              <a:rPr/>
              <a:t>[article] H. Zeng et al., "Jamming Attacks and Anti-Jamming Strategies in Wireless Networks: A Comprehensive Survey," </a:t>
            </a:r>
            <a:r>
              <a:rPr i="1"/>
              <a:t>IEEE Communications Surveys &amp; Tutorials</a:t>
            </a:r>
            <a:r>
              <a:rPr/>
              <a:t>, 2024.</a:t>
            </a:r>
          </a:p>
          <a:p>
            <a:pPr lvl="0" indent="0" marL="0">
              <a:buNone/>
            </a:pPr>
            <a:r>
              <a:rPr/>
              <a:t>K. Yang et al., "Communications in Space–Air–Ground Integrated Networks: An Overview," </a:t>
            </a:r>
            <a:r>
              <a:rPr i="1"/>
              <a:t>Space: Science &amp; Technology</a:t>
            </a:r>
            <a:r>
              <a:rPr/>
              <a:t>, 2025.</a:t>
            </a:r>
          </a:p>
          <a:p>
            <a:pPr lvl="0" indent="0" marL="0">
              <a:buNone/>
            </a:pPr>
            <a:r>
              <a:rPr/>
              <a:t>天貝 崇樹, "次世代の電子戦について ― 機械学習とネットワークを活用した EMS 活動 ―," </a:t>
            </a:r>
            <a:r>
              <a:rPr i="1"/>
              <a:t>防衛技術ジャーナル</a:t>
            </a:r>
            <a:r>
              <a:rPr/>
              <a:t>, 2020.</a:t>
            </a:r>
          </a:p>
          <a:p>
            <a:pPr lvl="0" indent="0" marL="0">
              <a:buNone/>
            </a:pPr>
            <a:r>
              <a:rPr/>
              <a:t>M. Harvanek et al., "Survey on 5G Physical Layer Security Threats and Countermeasures," </a:t>
            </a:r>
            <a:r>
              <a:rPr i="1"/>
              <a:t>Sensors</a:t>
            </a:r>
            <a:r>
              <a:rPr/>
              <a:t>, 2024.</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妨害通信の数理とシミュレーション環境の構築</dc:title>
  <dc:creator>学籍番号(Student ID): 1280391 氏名(Name): 細川夏風(Hosokawa Natsuka)</dc:creator>
  <cp:keywords/>
  <dcterms:created xsi:type="dcterms:W3CDTF">2026-06-17T01:51:20Z</dcterms:created>
  <dcterms:modified xsi:type="dcterms:W3CDTF">2026-06-17T01:51:20Z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ate">
    <vt:lpwstr>2026-06-17</vt:lpwstr>
  </property>
  <property fmtid="{D5CDD505-2E9C-101B-9397-08002B2CF9AE}" pid="3" name="subtitle">
    <vt:lpwstr>妨害通信</vt:lpwstr>
  </property>
</Properties>
</file>